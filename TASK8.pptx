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59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4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7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63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3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53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65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10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5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880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0419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498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1232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28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157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36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8D4E0-D0D6-48D6-8542-D84E0AE80935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4C55DB-CEF6-41C9-9440-8DA6E99B7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37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8AFD-F8D7-8306-60C7-C806665B9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DeepSeek-CJK-patch"/>
              </a:rPr>
              <a:t>I</a:t>
            </a:r>
            <a:r>
              <a:rPr lang="en-IN" i="0" dirty="0">
                <a:solidFill>
                  <a:schemeClr val="tx1"/>
                </a:solidFill>
                <a:effectLst/>
                <a:latin typeface="DeepSeek-CJK-patch"/>
              </a:rPr>
              <a:t>nsights</a:t>
            </a:r>
            <a:r>
              <a:rPr lang="en-IN" b="0" i="0" dirty="0">
                <a:solidFill>
                  <a:schemeClr val="tx1"/>
                </a:solidFill>
                <a:effectLst/>
                <a:latin typeface="DeepSeek-CJK-patch"/>
              </a:rPr>
              <a:t> of </a:t>
            </a:r>
            <a:r>
              <a:rPr lang="en-IN" sz="4000" b="0" i="0" dirty="0">
                <a:solidFill>
                  <a:schemeClr val="tx1"/>
                </a:solidFill>
                <a:effectLst/>
                <a:latin typeface="DeepSeek-CJK-patch"/>
              </a:rPr>
              <a:t>superstore sales dashboard </a:t>
            </a:r>
            <a:r>
              <a:rPr lang="en-IN" b="0" i="0" dirty="0">
                <a:solidFill>
                  <a:schemeClr val="tx1"/>
                </a:solidFill>
                <a:effectLst/>
                <a:latin typeface="DeepSeek-CJK-patch"/>
              </a:rPr>
              <a:t> 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3FBED-D5C3-B58D-AFD6-CDE81FCFC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 T SANJANA</a:t>
            </a:r>
          </a:p>
        </p:txBody>
      </p:sp>
    </p:spTree>
    <p:extLst>
      <p:ext uri="{BB962C8B-B14F-4D97-AF65-F5344CB8AC3E}">
        <p14:creationId xmlns:p14="http://schemas.microsoft.com/office/powerpoint/2010/main" val="30687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D3E9B-7AEF-6AEA-B03D-D19D4E72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73" y="91440"/>
            <a:ext cx="11549854" cy="661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68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14C140-DD8C-6F0C-0938-E6CA7CACAD26}"/>
              </a:ext>
            </a:extLst>
          </p:cNvPr>
          <p:cNvSpPr txBox="1"/>
          <p:nvPr/>
        </p:nvSpPr>
        <p:spPr>
          <a:xfrm>
            <a:off x="585216" y="612648"/>
            <a:ext cx="861364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DeepSeek-CJK-patch"/>
              </a:rPr>
              <a:t>Regional Performance:-</a:t>
            </a:r>
          </a:p>
          <a:p>
            <a:r>
              <a:rPr lang="en-IN" b="1" dirty="0">
                <a:latin typeface="DeepSeek-CJK-patch"/>
              </a:rPr>
              <a:t>        </a:t>
            </a:r>
            <a:r>
              <a:rPr lang="en-US" i="0" dirty="0">
                <a:effectLst/>
                <a:latin typeface="DeepSeek-CJK-patch"/>
              </a:rPr>
              <a:t>The West region dominates sales, contributing 35% of total revenue, while the         Central region underperforms with just 15%.</a:t>
            </a:r>
            <a:endParaRPr lang="en-US" dirty="0">
              <a:latin typeface="DeepSeek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DeepSeek-CJK-patch"/>
              </a:rPr>
              <a:t>Monthly Trends:-</a:t>
            </a:r>
          </a:p>
          <a:p>
            <a:r>
              <a:rPr lang="en-IN" b="1" dirty="0">
                <a:latin typeface="DeepSeek-CJK-patch"/>
              </a:rPr>
              <a:t>         </a:t>
            </a:r>
            <a:r>
              <a:rPr lang="en-US" i="0" dirty="0">
                <a:effectLst/>
                <a:latin typeface="DeepSeek-CJK-patch"/>
              </a:rPr>
              <a:t>November sees a 40% sales spike due to holiday shopping, making it the best month for promotions.</a:t>
            </a:r>
            <a:endParaRPr lang="en-IN" i="0" dirty="0">
              <a:effectLst/>
              <a:latin typeface="DeepSeek-CJK-patch"/>
            </a:endParaRPr>
          </a:p>
          <a:p>
            <a:pPr marL="285750" indent="-285750" algn="l"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Product Category Breakdown</a:t>
            </a:r>
            <a:r>
              <a:rPr lang="en-US" b="1" dirty="0">
                <a:latin typeface="DeepSeek-CJK-patch"/>
              </a:rPr>
              <a:t>:-</a:t>
            </a:r>
          </a:p>
          <a:p>
            <a:pPr>
              <a:spcBef>
                <a:spcPts val="1372"/>
              </a:spcBef>
              <a:spcAft>
                <a:spcPts val="1029"/>
              </a:spcAft>
            </a:pPr>
            <a:r>
              <a:rPr lang="en-US" b="1" dirty="0">
                <a:latin typeface="DeepSeek-CJK-patch"/>
              </a:rPr>
              <a:t>        </a:t>
            </a:r>
            <a:r>
              <a:rPr lang="en-US" b="1" i="0" dirty="0">
                <a:effectLst/>
                <a:latin typeface="DeepSeek-CJK-patch"/>
              </a:rPr>
              <a:t> </a:t>
            </a:r>
            <a:r>
              <a:rPr lang="en-US" i="0" dirty="0">
                <a:effectLst/>
                <a:latin typeface="DeepSeek-CJK-patch"/>
              </a:rPr>
              <a:t>Technology drives 48% of sales but has the lowest profit margins (15%), while Furniture delivers higher profitability (25%) despite lower sales volume.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</a:pPr>
            <a:endParaRPr lang="en-US" b="1" dirty="0">
              <a:latin typeface="DeepSeek-CJK-patch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effectLst/>
                <a:latin typeface="DeepSeek-CJK-patch"/>
              </a:rPr>
              <a:t>         </a:t>
            </a:r>
            <a:endParaRPr lang="en-IN" b="0" i="0" dirty="0">
              <a:effectLst/>
              <a:latin typeface="DeepSeek-CJK-patch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54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8F3278-6743-AB7D-80FC-0BB556EB4962}"/>
              </a:ext>
            </a:extLst>
          </p:cNvPr>
          <p:cNvSpPr txBox="1"/>
          <p:nvPr/>
        </p:nvSpPr>
        <p:spPr>
          <a:xfrm>
            <a:off x="374904" y="548640"/>
            <a:ext cx="9637776" cy="3652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endParaRPr lang="en-US" b="0" i="0" dirty="0"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dirty="0">
                <a:latin typeface="DeepSeek-CJK-patch"/>
              </a:rPr>
              <a:t> </a:t>
            </a:r>
            <a:r>
              <a:rPr lang="en-US" sz="2000" b="1" i="1" dirty="0">
                <a:latin typeface="DeepSeek-CJK-patch"/>
              </a:rPr>
              <a:t>CONCLUSION:-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endParaRPr lang="en-US" b="0" i="0" dirty="0"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"The West region consistently outperformed other regions in sales throughout the year."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"Technology products accounted for 45% of total sales, the highest among all categories."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"Sales peaked in November, likely due to holiday season shopping."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"The Central region showed the lowest profit margins despite moderate sales volume."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211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3576-6107-ACB5-D01E-16900014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96312"/>
            <a:ext cx="8596668" cy="1325880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628559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156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DeepSeek-CJK-patch</vt:lpstr>
      <vt:lpstr>Trebuchet MS</vt:lpstr>
      <vt:lpstr>Wingdings 3</vt:lpstr>
      <vt:lpstr>Facet</vt:lpstr>
      <vt:lpstr>Insights of superstore sales dashboard   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sanjana13311005@outlook.com</dc:creator>
  <cp:lastModifiedBy>sanjana13311005@outlook.com</cp:lastModifiedBy>
  <cp:revision>1</cp:revision>
  <dcterms:created xsi:type="dcterms:W3CDTF">2025-05-23T10:17:09Z</dcterms:created>
  <dcterms:modified xsi:type="dcterms:W3CDTF">2025-05-23T10:41:51Z</dcterms:modified>
</cp:coreProperties>
</file>